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Открывающий слайд. Скажи: курс идёт четыре недели, в каждой — практика и проект. К концу у каждого ученика будет опубликованное приложение.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Расскажи, для кого курс и что получится в конце: промпты, понимание, опубликованный проект.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Открой неделю 1. Цель недели: Понять принципы работы ИИ и научиться получать нужный ответ с первой–третьей попытки.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Нейросети бывают разными: одни пишут текст, другие рисуют, третьи делают видео и звук, а агенты выполняют целые цепочки действий. Главная идея урока: сначала определи задачу, потом выбирай инструмент. Заведи один аккаунт, защити его и собери таблицу своих задач.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 выполнение шагов на экране, не торопясь. Дай зрителю поставить видео на паузу и повторить каждый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Языковая модель не знает фактов в человеческом смысле: она предсказывает продолжение текста. Отсюда токены, контекст, температура и галлюцинации. Проведи три маленьких эксперимента и убедись сам: одинаковый вопрос дает разные ответы, а факты нужно проверять.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 выполнение шагов на экране, не торопясь. Дай зрителю поставить видео на паузу и повторить каждый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Хороший промпт — это роль, контекст, задача, формат и ограничения. Возьми свой слабый запрос и усиль его по этой схеме. Сравни ответы: разница обычно огромная.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 выполнение шагов на экране, не торопясь. Дай зрителю поставить видео на паузу и повторить каждый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жди идеального ответа с первого раза. Работай итерациями: черновик, конкретная правка, еще одна правка. А если задача большая, разбей её на цепочку шагов.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 выполнение шагов на экране, не торопясь. Дай зрителю поставить видео на паузу и повторить каждый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ИИ звучит уверенно даже тогда, когда ошибается. Привычка номер один: проверять цифры, даты, цитаты и ссылки. Выбери тему, которую хорошо знаешь, и найди три ошибки или неточности.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 выполнение шагов на экране, не торопясь. Дай зрителю поставить видео на паузу и повторить каждый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Хороший промпт — это ваш актив. Сохраняйте их в один документ, превращайте в шаблоны и добавляйте личные правила в системные инструкции. Через месяц у вас будет собственный набор инструментов.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 выполнение шагов на экране, не торопясь. Дай зрителю поставить видео на паузу и повторить каждый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 задание и критерии. Напомни срок сдачи: пятница.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Открой неделю 2. Цель недели: Собрать работающее приложение, не написав ни строчки кода вручную.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Вайбкодинг — это когда вы описываете результат словами, а код пишет ИИ. Вы становитесь продюсером проекта. Это отлично работает для небольших инструментов и лендингов, но требует осторожности там, где платежи и личные данные.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 выполнение шагов на экране, не торопясь. Дай зрителю поставить видео на паузу и повторить каждый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Инструментов много, но для старта хватит одного. Выберите тот, который проще запустить. Проверьте, что вы видите результат в предпросмотре, — это ваш главный цикл обратной связи.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 выполнение шагов на экране, не торопясь. Дай зрителю поставить видео на паузу и повторить каждый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Хорошее ТЗ — половина успеха. Опишите цель, три-пять функций и критерии готовности. Разбейте работу на шаги: каркас, функции, оформление. Агент справляется гораздо лучше, когда задача чёткая.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 выполнение шагов на экране, не торопясь. Дай зрителю поставить видео на паузу и повторить каждый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Собираем проект вместе: каркас, функции по одной, потом оформление. После каждого шага открываем результат и проверяем руками. Если что-то не работает, описываем наблюдение, а не эмоцию.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 выполнение шагов на экране, не торопясь. Дай зрителю поставить видео на паузу и повторить каждый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Ошибки — нормальная часть работы. Учимся описывать их так, чтобы ИИ мог помочь: что делал, что ожидал, что получил и текст ошибки. Консоль браузера — ваш лучший друг.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 выполнение шагов на экране, не торопясь. Дай зрителю поставить видео на паузу и повторить каждый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Вам не нужно становиться программистом, но полезно понимать, что за что отвечает. HTML — структура, CSS — вид, JavaScript — поведение. И всегда просите агента объяснять свои изменения простыми словами.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 выполнение шагов на экране, не торопясь. Дай зрителю поставить видео на паузу и повторить каждый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 задание и критерии. Напомни срок сдачи: пятница.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Открой неделю 3. Цель недели: Довести проект до состояния «показать людям» и научиться сохранять версии.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— это система сохранений вашего проекта. Каждый коммит — точка, к которой можно вернуться. GitHub хранит всё в облаке. Научитесь коммитить после каждого рабочего шага и откатываться, когда что-то пошло не так.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 выполнение шагов на экране, не торопясь. Дай зрителю поставить видео на паузу и повторить каждый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— это лицо проекта. Он объясняет, что это, как запустить и как выглядит. Попросите ИИ написать его, но обязательно проверьте, что всё написано правильно.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 выполнение шагов на экране, не торопясь. Дай зрителю поставить видео на паузу и повторить каждый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Данные можно хранить в браузере, в файле или в базе данных. Для старта хватит localStorage. Важно понимать ограничения: данные видны только в этом браузере. И всегда спрашивайте себя, какие данные вы собираете и зачем.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 выполнение шагов на экране, не торопясь. Дай зрителю поставить видео на паузу и повторить каждый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API-ключ — это как пароль от вашего кошелька в сервисе. Никогда не кладите его в код и не публикуйте. Используйте .env и .gitignore, ставьте лимиты расходов. Если ключ всё-таки утёк, немедленно отзовите 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 выполнение шагов на экране, не торопясь. Дай зрителю поставить видео на паузу и повторить каждый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Тестирование — это не магия, а список сценариев. Пройдитесь по проекту, проверьте крайние случаи и телефон. Соберите баги и исправьте сначала самые важные.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 выполнение шагов на экране, не торопясь. Дай зрителю поставить видео на паузу и повторить каждый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Иногда агент ходит по кругу. Тогда не продолжайте бесконечно: откатитесь на рабочую версию, откройте новый чат, коротко опишите проект и попросите сначала объяснить причину, а уже потом чинить.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 выполнение шагов на экране, не торопясь. Дай зрителю поставить видео на паузу и повторить каждый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 задание и критерии. Напомни срок сдачи: пятница.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Открой неделю 4. Цель недели: Выпустить проект в интернет и подготовить кейс в портфолио.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Публикация проще, чем кажется: подключаете репозиторий, и хостинг сам публикует сайт после каждого коммита. Проверьте ссылку с телефона и убедитесь, что в коде нет секретов.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 выполнение шагов на экране, не торопясь. Дай зрителю поставить видео на паузу и повторить каждый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Хороший дизайн — это ограничения: два-три цвета, один-два шрифта и достаточно воздуха. Опишите ИИ стиль словами, попросите два варианта и выберите лучший.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 выполнение шагов на экране, не торопясь. Дай зрителю поставить видео на паузу и повторить каждый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Юридическая гигиена нужна даже маленькому проекту. Не собирайте лишнего, проверяйте лицензии, не отправляйте в ИИ чужие секреты и маркируйте ИИ-контент, где это нужно.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 выполнение шагов на экране, не торопясь. Дай зрителю поставить видео на паузу и повторить каждый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Курс закончился, но обучение продолжается. Поставьте цель на три месяца, выберите следующий курс и запланируйте время в календаре. Учиться лучше всего на реальном проекте.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 выполнение шагов на экране, не торопясь. Дай зрителю поставить видео на паузу и повторить каждый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Финальная защита — это три минуты: проблема, решение, живое демо, ваши промпты и выводы. Покажите работающий проект и расскажите об одной трудности, которую вы преодолели.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 выполнение шагов на экране, не торопясь. Дай зрителю поставить видео на паузу и повторить каждый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 критерии зачёта и примеры удачных проектов прошлых потоков, если они есть.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Заверши курс мотивацией: главное — начать и делать по шагу каждый день.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image" Target="../media/image-68-3.png"/><Relationship Id="rId4" Type="http://schemas.openxmlformats.org/officeDocument/2006/relationships/image" Target="../media/image-68-4.png"/><Relationship Id="rId5" Type="http://schemas.openxmlformats.org/officeDocument/2006/relationships/image" Target="../media/image-6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6D5DF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3108960"/>
            <a:ext cx="4206240" cy="4206240"/>
          </a:xfrm>
          <a:prstGeom prst="ellipse">
            <a:avLst/>
          </a:prstGeom>
          <a:solidFill>
            <a:srgbClr val="B8F14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4480560"/>
            <a:ext cx="2011680" cy="2011680"/>
          </a:xfrm>
          <a:prstGeom prst="ellipse">
            <a:avLst/>
          </a:prstGeom>
          <a:solidFill>
            <a:srgbClr val="D6336C">
              <a:alpha val="4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ОБЯЗАТЕЛЬНАЯ БАЗА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46304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Основа: вайбкодинг и нейросети с нуля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0233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7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Пошаговый курс на 4 недели: от первого промпта до опубликованного проекта — без ручного программирования.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349240"/>
            <a:ext cx="1600200" cy="457200"/>
          </a:xfrm>
          <a:prstGeom prst="roundRect">
            <a:avLst>
              <a:gd name="adj" fmla="val 40000"/>
            </a:avLst>
          </a:prstGeom>
          <a:solidFill>
            <a:srgbClr val="26214D"/>
          </a:solidFill>
          <a:ln w="12700">
            <a:solidFill>
              <a:srgbClr val="4A43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недели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5349240"/>
            <a:ext cx="1600200" cy="457200"/>
          </a:xfrm>
          <a:prstGeom prst="roundRect">
            <a:avLst>
              <a:gd name="adj" fmla="val 40000"/>
            </a:avLst>
          </a:prstGeom>
          <a:solidFill>
            <a:srgbClr val="26214D"/>
          </a:solidFill>
          <a:ln w="12700">
            <a:solidFill>
              <a:srgbClr val="4A43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урока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5349240"/>
            <a:ext cx="1600200" cy="457200"/>
          </a:xfrm>
          <a:prstGeom prst="roundRect">
            <a:avLst>
              <a:gd name="adj" fmla="val 40000"/>
            </a:avLst>
          </a:prstGeom>
          <a:solidFill>
            <a:srgbClr val="26214D"/>
          </a:solidFill>
          <a:ln w="12700">
            <a:solidFill>
              <a:srgbClr val="4A43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проекта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 курсе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новичков без опыта. Ты учишься управлять нейросетями и собираешь свои проекты вместе с ИИ-агентом — код вручную писать не нужно.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47472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4688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6D5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97680" y="2331720"/>
            <a:ext cx="347472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0" y="24688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B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урока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0" y="2331720"/>
            <a:ext cx="347472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21040" y="24688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D973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4–6 ч</a:t>
            </a:r>
            <a:endParaRPr lang="en-US" sz="66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неделю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11091672" cy="1463040"/>
          </a:xfrm>
          <a:prstGeom prst="roundRect">
            <a:avLst>
              <a:gd name="adj" fmla="val 8750"/>
            </a:avLst>
          </a:prstGeom>
          <a:solidFill>
            <a:srgbClr val="15122E"/>
          </a:solidFill>
          <a:ln w="9525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7548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курса: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уверенно пишешь промпты, понимаешь, как работают нейросети, собираешь и публикуешь свой первый проект с помощью ИИ-агента.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Основа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ты сможешь после курса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6D5D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116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786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Понимать ИИ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объяснить простыми словами: LLM, токены, контекст, галлюцинации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97680" y="1554480"/>
            <a:ext cx="352044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0" y="1828800"/>
            <a:ext cx="685800" cy="685800"/>
          </a:xfrm>
          <a:prstGeom prst="ellipse">
            <a:avLst/>
          </a:prstGeom>
          <a:solidFill>
            <a:srgbClr val="6D5DF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0116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25786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Писать промпты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926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структурно и итеративно улучшать результат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046720" y="1554480"/>
            <a:ext cx="352044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21040" y="1828800"/>
            <a:ext cx="685800" cy="685800"/>
          </a:xfrm>
          <a:prstGeom prst="ellipse">
            <a:avLst/>
          </a:prstGeom>
          <a:solidFill>
            <a:srgbClr val="0B8A8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0116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5786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Выбирать нейросеть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926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подбирать инструмент под текст, картинку, видео, звук, код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48640" y="3931920"/>
            <a:ext cx="352044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" y="4206240"/>
            <a:ext cx="685800" cy="685800"/>
          </a:xfrm>
          <a:prstGeom prst="ellipse">
            <a:avLst/>
          </a:prstGeom>
          <a:solidFill>
            <a:srgbClr val="0B8A8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891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956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Вайбкодить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303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и запустить простой проект с ИИ-агентом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4297680" y="3931920"/>
            <a:ext cx="352044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72000" y="4206240"/>
            <a:ext cx="685800" cy="685800"/>
          </a:xfrm>
          <a:prstGeom prst="ellipse">
            <a:avLst/>
          </a:prstGeom>
          <a:solidFill>
            <a:srgbClr val="D9730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38912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72000" y="4956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Работать с Git</a:t>
            </a:r>
            <a:endParaRPr lang="en-US" sz="21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5303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сохранять версии, откатываться, публиковать на GitHub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8046720" y="3931920"/>
            <a:ext cx="352044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21040" y="4206240"/>
            <a:ext cx="685800" cy="685800"/>
          </a:xfrm>
          <a:prstGeom prst="ellipse">
            <a:avLst/>
          </a:prstGeom>
          <a:solidFill>
            <a:srgbClr val="D6336C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38912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321040" y="4956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Работать безопасно</a:t>
            </a:r>
            <a:endParaRPr lang="en-US" sz="21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5303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данные, ключи, лицензии и авторские права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Основа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проходить курс: ритм недели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320040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28800"/>
            <a:ext cx="731520" cy="731520"/>
          </a:xfrm>
          <a:prstGeom prst="ellipse">
            <a:avLst/>
          </a:prstGeom>
          <a:solidFill>
            <a:srgbClr val="6D5D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0299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Понедельник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Открываются новые уроки: смотри видео, читай конспект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3364992" y="1554480"/>
            <a:ext cx="2606040" cy="320040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39312" y="1828800"/>
            <a:ext cx="731520" cy="731520"/>
          </a:xfrm>
          <a:prstGeom prst="ellipse">
            <a:avLst/>
          </a:prstGeom>
          <a:solidFill>
            <a:srgbClr val="0B8A8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02996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39312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Вторник — четверг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639312" y="32004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делай шаги руками, задавай вопросы куратору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181344" y="1554480"/>
            <a:ext cx="2606040" cy="320040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55664" y="1828800"/>
            <a:ext cx="731520" cy="731520"/>
          </a:xfrm>
          <a:prstGeom prst="ellipse">
            <a:avLst/>
          </a:prstGeom>
          <a:solidFill>
            <a:srgbClr val="D9730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02996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55664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Пятница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455664" y="32004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Сдача домашнего задания и самопроверка по чек-листу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8997696" y="1554480"/>
            <a:ext cx="2606040" cy="320040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272016" y="1828800"/>
            <a:ext cx="731520" cy="731520"/>
          </a:xfrm>
          <a:prstGeom prst="ellipse">
            <a:avLst/>
          </a:prstGeom>
          <a:solidFill>
            <a:srgbClr val="D6336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4" y="202996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72016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Воскресенье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9272016" y="32004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Эфир: разбор типичных ошибок и лучших работ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548640" y="5029200"/>
            <a:ext cx="11091672" cy="1097280"/>
          </a:xfrm>
          <a:prstGeom prst="roundRect">
            <a:avLst>
              <a:gd name="adj" fmla="val 11667"/>
            </a:avLst>
          </a:prstGeom>
          <a:solidFill>
            <a:srgbClr val="15122E"/>
          </a:solidFill>
          <a:ln w="9525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868680" y="5074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Золотое правило: 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делай руками. Смотреть уроки без практики почти бесполезно — каждый урок заканчивается заданием.</a:t>
            </a:r>
            <a:endParaRPr lang="en-US" sz="21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Основа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подготовить до старта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1672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09344"/>
            <a:ext cx="512064" cy="512064"/>
          </a:xfrm>
          <a:prstGeom prst="ellipse">
            <a:avLst/>
          </a:prstGeom>
          <a:solidFill>
            <a:srgbClr val="6D5D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64792"/>
            <a:ext cx="201168" cy="201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46304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 или ноутбук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1463040"/>
            <a:ext cx="6035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Подойдёт любой современный; телефон нужен для проверки результата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11091672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523744"/>
            <a:ext cx="512064" cy="512064"/>
          </a:xfrm>
          <a:prstGeom prst="ellipse">
            <a:avLst/>
          </a:prstGeom>
          <a:solidFill>
            <a:srgbClr val="6D5DF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67919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37744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Стабильный интернет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5394960" y="2377440"/>
            <a:ext cx="6035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инструменты курса работают в браузере или онлайн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291840"/>
            <a:ext cx="11091672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3438144"/>
            <a:ext cx="512064" cy="512064"/>
          </a:xfrm>
          <a:prstGeom prst="ellipse">
            <a:avLst/>
          </a:prstGeom>
          <a:solidFill>
            <a:srgbClr val="6D5DF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593592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329184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Аккаунт в текстовом ИИ-чате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5394960" y="3291840"/>
            <a:ext cx="6035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Бесплатного тарифа достаточно для начала; включи двухфакторную защиту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48640" y="4206240"/>
            <a:ext cx="11091672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4352544"/>
            <a:ext cx="512064" cy="512064"/>
          </a:xfrm>
          <a:prstGeom prst="ellipse">
            <a:avLst/>
          </a:prstGeom>
          <a:solidFill>
            <a:srgbClr val="6D5DF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507992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20624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Папка для работ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5394960" y="4206240"/>
            <a:ext cx="6035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документ «Мои промпты» и одна папка «Проекты»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548640" y="5120640"/>
            <a:ext cx="11091672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77240" y="5266944"/>
            <a:ext cx="512064" cy="512064"/>
          </a:xfrm>
          <a:prstGeom prst="ellipse">
            <a:avLst/>
          </a:prstGeom>
          <a:solidFill>
            <a:srgbClr val="6D5DF6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422392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54480" y="512064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часов в неделю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5394960" y="5120640"/>
            <a:ext cx="6035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Лучше по часу в день, чем всё в воскресенье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Основа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Карта курса: 4 недели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4480560"/>
          </a:xfrm>
          <a:prstGeom prst="roundRect">
            <a:avLst>
              <a:gd name="adj" fmla="val 4912"/>
            </a:avLst>
          </a:prstGeom>
          <a:solidFill>
            <a:srgbClr val="26214D"/>
          </a:solidFill>
          <a:ln w="12700">
            <a:solidFill>
              <a:srgbClr val="3C367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думают нейросети и как с ними говорить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уроков + ДЗ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5720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Понять принципы работы ИИ и научиться получать нужный ответ с первой–третьей попытки.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64992" y="1463040"/>
            <a:ext cx="2606040" cy="4480560"/>
          </a:xfrm>
          <a:prstGeom prst="roundRect">
            <a:avLst>
              <a:gd name="adj" fmla="val 4912"/>
            </a:avLst>
          </a:prstGeom>
          <a:solidFill>
            <a:srgbClr val="26214D"/>
          </a:solidFill>
          <a:ln w="12700">
            <a:solidFill>
              <a:srgbClr val="3C367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9312" y="1737360"/>
            <a:ext cx="731520" cy="73152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639312" y="2606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29260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Вайбкодинг: первый проект за вечер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уроков + ДЗ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39312" y="45720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работающее приложение, не написав ни строчки кода вручную.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81344" y="1463040"/>
            <a:ext cx="2606040" cy="4480560"/>
          </a:xfrm>
          <a:prstGeom prst="roundRect">
            <a:avLst>
              <a:gd name="adj" fmla="val 4912"/>
            </a:avLst>
          </a:prstGeom>
          <a:solidFill>
            <a:srgbClr val="26214D"/>
          </a:solidFill>
          <a:ln w="12700">
            <a:solidFill>
              <a:srgbClr val="3C367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55664" y="1737360"/>
            <a:ext cx="731520" cy="73152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2606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55664" y="29260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Проект, Git и данные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уроков + ДЗ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55664" y="45720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Довести проект до состояния «показать людям» и научиться сохранять версии.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97696" y="1463040"/>
            <a:ext cx="2606040" cy="4480560"/>
          </a:xfrm>
          <a:prstGeom prst="roundRect">
            <a:avLst>
              <a:gd name="adj" fmla="val 4912"/>
            </a:avLst>
          </a:prstGeom>
          <a:solidFill>
            <a:srgbClr val="26214D"/>
          </a:solidFill>
          <a:ln w="12700">
            <a:solidFill>
              <a:srgbClr val="3C367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72016" y="1737360"/>
            <a:ext cx="731520" cy="73152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272016" y="2606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272016" y="29260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Публикация и финальный проект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9272016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уроков + защита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272016" y="45720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Выпустить проект в интернет и подготовить кейс в портфолио.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Основа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A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548640"/>
            <a:ext cx="6583680" cy="6583680"/>
          </a:xfrm>
          <a:prstGeom prst="ellipse">
            <a:avLst/>
          </a:prstGeom>
          <a:solidFill>
            <a:srgbClr val="6D5DF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-1280160"/>
            <a:ext cx="2194560" cy="2194560"/>
          </a:xfrm>
          <a:prstGeom prst="ellipse">
            <a:avLst/>
          </a:prstGeom>
          <a:solidFill>
            <a:srgbClr val="B8F14A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4114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92024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думают нейросети и как с ними говорить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40233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7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Понять принципы работы ИИ и научиться получать нужный ответ с первой–третьей попытки.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уроков · практика · домашнее задание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Неделя 1: программа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недели: Понять принципы работы ИИ и научиться получать нужный ответ с первой–третьей попытки.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892808"/>
            <a:ext cx="603504" cy="603504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нейросетей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«5 моих задач → тип нейросети»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53912" y="1691640"/>
            <a:ext cx="539496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82512" y="1892808"/>
            <a:ext cx="603504" cy="603504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05472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работает LLM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эксперимента с одним вопросом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807208"/>
            <a:ext cx="539496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3008376"/>
            <a:ext cx="603504" cy="603504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28986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Анатомия промпта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3101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переписанных промптов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53912" y="2807208"/>
            <a:ext cx="539496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82512" y="3008376"/>
            <a:ext cx="603504" cy="603504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205472" y="28986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Итерации и цепочки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205472" y="33101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Текст, доведённый за 3 итерации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922776"/>
            <a:ext cx="539496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77240" y="4123944"/>
            <a:ext cx="603504" cy="603504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01421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фактов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4256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3 утверждений из ответа ИИ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53912" y="3922776"/>
            <a:ext cx="539496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382512" y="4123944"/>
            <a:ext cx="603504" cy="603504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205472" y="401421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Личная база промптов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7205472" y="44256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 «Мои промпты» из 10 шаблонов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5038344"/>
            <a:ext cx="11091672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77240" y="5239512"/>
            <a:ext cx="603504" cy="603504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ДЗ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5129784"/>
            <a:ext cx="9811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5541264"/>
            <a:ext cx="9811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Сдача в конце недели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Карта нейросетей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урока: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Понять, какие бывают нейросети и какую выбрать под задачу.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402336" cy="402336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828800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Текстовые модели (LLM)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пишут, объясняют, анализируют, помогают с кодом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9504"/>
            <a:ext cx="402336" cy="402336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852928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Генераторы изображений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создают картинки по описанию и редактируют фото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13632"/>
            <a:ext cx="402336" cy="402336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877056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 и звук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ролики, озвучка, музыка, субтитры и перевод речи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37760"/>
            <a:ext cx="402336" cy="402336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4901184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ИИ-агенты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просто отвечают, а выполняют цепочку действий: создают файлы, запускают код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949440" y="1828800"/>
            <a:ext cx="4663440" cy="4160520"/>
          </a:xfrm>
          <a:prstGeom prst="roundRect">
            <a:avLst>
              <a:gd name="adj" fmla="val 3516"/>
            </a:avLst>
          </a:prstGeom>
          <a:solidFill>
            <a:srgbClr val="15122E"/>
          </a:solidFill>
          <a:ln w="6350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2694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ВЫБРАТЬ ИНСТРУМЕНТ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514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Написать текст → чат с LLM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 логотип → генератор изображений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сайт → ИИ-агент для кода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Озвучить ролик → синтез речи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Нарезать видео → ИИ-монтаж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Карта нейросетей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«5 моих задач → тип нейросети»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Заведи аккаунт в одном текстовом ИИ-чате — бесплатного тарифа достаточно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614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Включи двухфакторную защиту и придумай отдельный пароль для сервиса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77056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78561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Задай вопрос «Объясни, что такое нейросеть, как для школьника» и сохрани ответ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01184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80974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Составь таблицу: 5 твоих задач и тип нейросети, который подходит для каждой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4050792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57400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2011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5603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Аккаунт защищён двухфакторной аутентификацией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таблице 5 задач с типами нейросетей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можешь назвать 4 типа нейросетей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4526280"/>
            <a:ext cx="4050792" cy="1554480"/>
          </a:xfrm>
          <a:prstGeom prst="roundRect">
            <a:avLst>
              <a:gd name="adj" fmla="val 8235"/>
            </a:avLst>
          </a:prstGeom>
          <a:solidFill>
            <a:srgbClr val="FFF3E3"/>
          </a:solidFill>
          <a:ln w="9525">
            <a:solidFill>
              <a:srgbClr val="F4D9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916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321040" y="4663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5120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Регистрироваться сразу во всех сервисах. Начни с одного: глубина важнее ширины.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работает LLM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урока: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Объяснить простыми словами, как модель «думает» и почему ошибается.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1865376"/>
            <a:ext cx="402336" cy="402336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27648" y="1828800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Токены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читает и пишет кусочками слов, а не целыми словами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2889504"/>
            <a:ext cx="402336" cy="402336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27648" y="2852928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«память» диалога: что вышло за окно контекста, то модель не видит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3913632"/>
            <a:ext cx="402336" cy="402336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27648" y="3877056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Температура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 — точнее и суше, высокая — творчески, но рискованнее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4937760"/>
            <a:ext cx="402336" cy="402336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4901184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Галлюцинации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уверенный, но выдуманный ответ: модель продолжает правдоподобно, а не проверяет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1828800"/>
            <a:ext cx="4663440" cy="4160520"/>
          </a:xfrm>
          <a:prstGeom prst="roundRect">
            <a:avLst>
              <a:gd name="adj" fmla="val 3516"/>
            </a:avLst>
          </a:prstGeom>
          <a:solidFill>
            <a:srgbClr val="15122E"/>
          </a:solidFill>
          <a:ln w="6350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ТОКЕНЫ НА ПАЛЬЦАХ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514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«Вайбкодинг» → несколько токенов: длинные слова режутся на части.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 чат → точнее и быстрее.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Длинный чат → модель путается и забывает начало.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Как работает LLM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эксперимента с одним вопросом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Задай «Придумай 5 названий для кофейни» и повтори запрос 3 раза. Сравни ответы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614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Попроси «Ответь строго и сухо», затем «Ответь смело и необычно». Что изменилось?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77056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78561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Спроси про факт, который можешь проверить, и проверь ответ по надёжному источнику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01184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80974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 новый чат и повтори вопрос без прежнего контекста. Сравни результаты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4050792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57400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2011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5603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увидел, что ответы на один вопрос различаются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заметил разницу между «строгим» и «смелым» ответом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знаешь, почему факты нужно проверять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4526280"/>
            <a:ext cx="4050792" cy="1554480"/>
          </a:xfrm>
          <a:prstGeom prst="roundRect">
            <a:avLst>
              <a:gd name="adj" fmla="val 8235"/>
            </a:avLst>
          </a:prstGeom>
          <a:solidFill>
            <a:srgbClr val="FFF3E3"/>
          </a:solidFill>
          <a:ln w="9525">
            <a:solidFill>
              <a:srgbClr val="F4D9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916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321040" y="4663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5120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Считать ИИ поисковиком. LLM генерирует правдоподобный текст, а цифры и даты нужно проверять.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Анатомия промпта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урока: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Научиться превращать слабый запрос в сильный.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402336" cy="402336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828800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кем должен быть ИИ: «ты — редактор с 10-летним опытом»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9504"/>
            <a:ext cx="402336" cy="402336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852928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и задача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кого, зачем и что именно нужно сделать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13632"/>
            <a:ext cx="402336" cy="402336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877056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таблица, список, 3 абзаца, JSON — как должен выглядеть ответ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37760"/>
            <a:ext cx="402336" cy="402336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4901184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 и пример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длина, стиль, чего избегать; образец нужного тона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949440" y="1828800"/>
            <a:ext cx="4663440" cy="4160520"/>
          </a:xfrm>
          <a:prstGeom prst="roundRect">
            <a:avLst>
              <a:gd name="adj" fmla="val 3516"/>
            </a:avLst>
          </a:prstGeom>
          <a:solidFill>
            <a:srgbClr val="15122E"/>
          </a:solidFill>
          <a:ln w="6350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2694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СЛАБЫЙ → СИЛЬНЫЙ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514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Слабый: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«Напиши пост про кофе».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Сильный: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«Ты — копирайтер кофейни. Напиши пост для Telegram для студентов: 600 знаков, дружелюбно, без клише, в конце вопрос к читателям. Дай 2 варианта».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Анатомия промпта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переписанных промптов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Возьми слабый промпт из своей жизни, например «составь план тренировок»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614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 роль, контекст (кто ты, цель, срок) и формат ответа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77056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78561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 ограничения: длина, стиль, чего делать не нужно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01184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80974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 ответы на слабый и сильный промпт и запиши, что дало больший эффект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4050792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57400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2011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5603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промпте есть роль, задача, формат и ограничение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сравнил результаты «до» и «после»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можешь объяснить, какая часть промпта важнее всего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4526280"/>
            <a:ext cx="4050792" cy="1554480"/>
          </a:xfrm>
          <a:prstGeom prst="roundRect">
            <a:avLst>
              <a:gd name="adj" fmla="val 8235"/>
            </a:avLst>
          </a:prstGeom>
          <a:solidFill>
            <a:srgbClr val="FFF3E3"/>
          </a:solidFill>
          <a:ln w="9525">
            <a:solidFill>
              <a:srgbClr val="F4D9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916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321040" y="4663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5120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Писать длинно, но без конкретики. Важна точность, а не объём.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Итерации и цепочки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урока: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Улучшать результат короткими уточнениями, а не переписыванием с нуля.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1865376"/>
            <a:ext cx="402336" cy="402336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27648" y="1828800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ответ — черновик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выбрасывай его, а улучшай короткими правками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2889504"/>
            <a:ext cx="402336" cy="402336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27648" y="2852928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Конкретные замечания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«короче на треть», «убери канцелярит», «добавь пример»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3913632"/>
            <a:ext cx="402336" cy="402336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27648" y="3877056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Пусть ИИ спросит тебя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«задай 5 вопросов, чтобы выполнить задачу лучше»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4937760"/>
            <a:ext cx="402336" cy="402336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4901184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Цепочка промптов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большая задача по шагам: план → черновик → правка → финал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1828800"/>
            <a:ext cx="4663440" cy="4160520"/>
          </a:xfrm>
          <a:prstGeom prst="roundRect">
            <a:avLst>
              <a:gd name="adj" fmla="val 3516"/>
            </a:avLst>
          </a:prstGeom>
          <a:solidFill>
            <a:srgbClr val="15122E"/>
          </a:solidFill>
          <a:ln w="6350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ЦЕПОЧКА ПРОМПТОВ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514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«Составь план статьи»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«Напиши введение по пункту 1»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«Сделай тон живее»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«Проверь на повторы и сократи на 20%»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Итерации и цепочки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Текст, доведённый за 3 итерации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Выбери задачу: письмо, резюме, пост или план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614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Дай задачу и попроси сначала задать тебе 5 уточняющих вопросов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77056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78561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Ответь на вопросы и получи черновик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01184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80974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Сделай 3 итерации правок, каждая — одно конкретное замечание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4050792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57400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2011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5603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текст заметно лучше первого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правка была конкретной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использовал уточняющие вопросы от ИИ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4526280"/>
            <a:ext cx="4050792" cy="1554480"/>
          </a:xfrm>
          <a:prstGeom prst="roundRect">
            <a:avLst>
              <a:gd name="adj" fmla="val 8235"/>
            </a:avLst>
          </a:prstGeom>
          <a:solidFill>
            <a:srgbClr val="FFF3E3"/>
          </a:solidFill>
          <a:ln w="9525">
            <a:solidFill>
              <a:srgbClr val="F4D9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916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321040" y="4663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5120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Просить «сделай лучше» без уточнения. ИИ не знает, что для тебя «лучше».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фактов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урока: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попадаться на выдуманные факты и ссылки.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402336" cy="402336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828800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проси ссылки и открывай их сам: они бывают выдуманными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9504"/>
            <a:ext cx="402336" cy="402336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852928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проверять всегда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цифры, даты, цитаты, юридические и медицинские советы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13632"/>
            <a:ext cx="402336" cy="402336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877056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Самопроверка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попроси ИИ отметить, в чём он не уверен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37760"/>
            <a:ext cx="402336" cy="402336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4901184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Актуальные данные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используй режим с доступом к интернету или официальные сайты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949440" y="1828800"/>
            <a:ext cx="4663440" cy="4160520"/>
          </a:xfrm>
          <a:prstGeom prst="roundRect">
            <a:avLst>
              <a:gd name="adj" fmla="val 3516"/>
            </a:avLst>
          </a:prstGeom>
          <a:solidFill>
            <a:srgbClr val="15122E"/>
          </a:solidFill>
          <a:ln w="6350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2694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ПРОВЕРОЧНЫЙ ПРОМПТ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514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«Перечисли утверждения в твоём ответе, которые ты считаешь наименее надёжными, и скажи, что нужно проверить вручную».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Проверка фактов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3 утверждений из ответа ИИ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Попроси ИИ написать короткую справку на знакомую тебе тему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614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Найди в ответе 3 утверждения, которые можно проверить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77056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78561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их по надёжным источникам: верно / неточно / неверно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01184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80974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Сообщи ИИ об ошибках и посмотри, как он их исправит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4050792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57400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2011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5603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Найдено и проверено 3 утверждения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открыл хотя бы один источник сам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не доверяешь цифрам и ссылкам без проверки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4526280"/>
            <a:ext cx="4050792" cy="1554480"/>
          </a:xfrm>
          <a:prstGeom prst="roundRect">
            <a:avLst>
              <a:gd name="adj" fmla="val 8235"/>
            </a:avLst>
          </a:prstGeom>
          <a:solidFill>
            <a:srgbClr val="FFF3E3"/>
          </a:solidFill>
          <a:ln w="9525">
            <a:solidFill>
              <a:srgbClr val="F4D9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916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321040" y="4663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5120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Верить ссылкам «на исследования», не открыв их.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Личная база промптов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урока: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библиотеку удачных промптов, которую можно использовать снова.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1865376"/>
            <a:ext cx="402336" cy="402336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27648" y="1828800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 — актив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удачный запрос сохраняй и улучшай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2889504"/>
            <a:ext cx="402336" cy="402336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27648" y="2852928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с пропусками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[аудитория], [цель], [формат] — меняешь только их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3913632"/>
            <a:ext cx="402336" cy="402336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27648" y="3877056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Системные инструкции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постоянные правила: тон, язык, формат ответов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4937760"/>
            <a:ext cx="402336" cy="402336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4901184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текст, идеи, учёба, код — так проще искать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1828800"/>
            <a:ext cx="4663440" cy="4160520"/>
          </a:xfrm>
          <a:prstGeom prst="roundRect">
            <a:avLst>
              <a:gd name="adj" fmla="val 3516"/>
            </a:avLst>
          </a:prstGeom>
          <a:solidFill>
            <a:srgbClr val="15122E"/>
          </a:solidFill>
          <a:ln w="6350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УНИВЕРСАЛЬНЫЙ ШАБЛОН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514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— [роль].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[что сделать].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Аудитория: [кто читает].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Формат: [как оформить].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Ограничения: [чего избегать].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данных мало — сначала задай вопросы.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Личная база промптов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 «Мои промпты» из 10 шаблонов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Создай документ «Мои промпты» в заметках или таблице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614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Собери 10 промптов, которые у тебя сработали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77056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78561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Преврати каждый в шаблон с пропусками в квадратных скобках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01184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80974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 личные правила в системные инструкции чата, если сервис это позволяет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4050792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57400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2011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5603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промптов сохранены в одном месте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есть пропуски-переменные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Промпты разложены по разделам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4526280"/>
            <a:ext cx="4050792" cy="1554480"/>
          </a:xfrm>
          <a:prstGeom prst="roundRect">
            <a:avLst>
              <a:gd name="adj" fmla="val 8235"/>
            </a:avLst>
          </a:prstGeom>
          <a:solidFill>
            <a:srgbClr val="FFF3E3"/>
          </a:solidFill>
          <a:ln w="9525">
            <a:solidFill>
              <a:srgbClr val="F4D9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916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321040" y="4663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5120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Хранить промпты только в истории чата: оттуда их потом не достать.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ДЗ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Домашнее задание · Неделя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94360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5349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Реши 3 реальные задачи (работа, учёба, быт) с помощью ИИ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каждой сохрани финальный промпт и результат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Опиши в 2–3 предложениях, что улучшило результат сильнее всего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766560" y="1463040"/>
            <a:ext cx="4873752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086600" y="1645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сдать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214884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Документ: задача → промпт → результат (3 блока)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 из 10 промптов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66560" y="3749040"/>
            <a:ext cx="4873752" cy="2286000"/>
          </a:xfrm>
          <a:prstGeom prst="roundRect">
            <a:avLst>
              <a:gd name="adj" fmla="val 5600"/>
            </a:avLst>
          </a:prstGeom>
          <a:solidFill>
            <a:srgbClr val="15122E"/>
          </a:solidFill>
          <a:ln w="9525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086600" y="3931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зачёта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443484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промптах есть роль, контекст и формат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2 итерации в одной из задач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Факты в результатах проверены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51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548640"/>
            <a:ext cx="6583680" cy="6583680"/>
          </a:xfrm>
          <a:prstGeom prst="ellipse">
            <a:avLst/>
          </a:prstGeom>
          <a:solidFill>
            <a:srgbClr val="0B8A8A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-1280160"/>
            <a:ext cx="2194560" cy="2194560"/>
          </a:xfrm>
          <a:prstGeom prst="ellipse">
            <a:avLst/>
          </a:prstGeom>
          <a:solidFill>
            <a:srgbClr val="B8F14A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4114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92024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Вайбкодинг: первый проект за вечер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40233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7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работающее приложение, не написав ни строчки кода вручную.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уроков · практика · домашнее задание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Неделя 2: программа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недели: Собрать работающее приложение, не написав ни строчки кода вручную.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892808"/>
            <a:ext cx="603504" cy="603504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вайбкодинг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мини-проекта на выбор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53912" y="1691640"/>
            <a:ext cx="539496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82512" y="1892808"/>
            <a:ext cx="603504" cy="603504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05472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 вайбкодинга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Пустой проект и первая кнопка на странице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807208"/>
            <a:ext cx="539496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3008376"/>
            <a:ext cx="603504" cy="603504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28986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ставить задачу агенту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3101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с мини-ТЗ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53912" y="2807208"/>
            <a:ext cx="539496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82512" y="3008376"/>
            <a:ext cx="603504" cy="603504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205472" y="28986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проект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205472" y="33101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Рабочее приложение по твоему ТЗ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922776"/>
            <a:ext cx="539496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77240" y="4123944"/>
            <a:ext cx="603504" cy="603504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01421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и отладка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4256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найденных и исправленных бага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53912" y="3922776"/>
            <a:ext cx="539496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382512" y="4123944"/>
            <a:ext cx="603504" cy="603504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205472" y="401421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о коде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7205472" y="44256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 проекта с понятными комментариями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5038344"/>
            <a:ext cx="11091672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77240" y="5239512"/>
            <a:ext cx="603504" cy="603504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ДЗ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5129784"/>
            <a:ext cx="9811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5541264"/>
            <a:ext cx="9811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Сдача в конце недели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вайбкодинг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урока: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Понять идею, границы и то, где вайбкодинг ломается.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402336" cy="402336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828800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— продюсер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описываешь результат словами, ИИ-агент пишет и меняет код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9504"/>
            <a:ext cx="402336" cy="402336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852928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 работает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лендинги, трекеры, калькуляторы, небольшие инструменты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13632"/>
            <a:ext cx="402336" cy="402336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877056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Опасные зоны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платежи, персональные данные, медицина и финансы — нужна проверка экспертом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37760"/>
            <a:ext cx="402336" cy="402336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4901184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Твоя роль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ставить задачу, проверять результат, направлять и откатывать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949440" y="1828800"/>
            <a:ext cx="4663440" cy="4160520"/>
          </a:xfrm>
          <a:prstGeom prst="roundRect">
            <a:avLst>
              <a:gd name="adj" fmla="val 3516"/>
            </a:avLst>
          </a:prstGeom>
          <a:solidFill>
            <a:srgbClr val="15122E"/>
          </a:solidFill>
          <a:ln w="6350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2694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БРАТЬ В ПЕРВЫЙ ПРОЕКТ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514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Подходит: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трекер привычек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калькулятор чаевых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страница-визитка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не брать: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платежи и чужие данные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«сделай маркетплейс»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Что такое вайбкодинг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мини-проекта на выбор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Найди 3 примера проектов, собранных с ИИ, в открытых источниках и сообществах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548640" cy="54864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614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Определи: что в них простое, а что могло бы сломаться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77056"/>
            <a:ext cx="548640" cy="54864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78561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Придумай 3 идеи мини-проектов для себя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01184"/>
            <a:ext cx="548640" cy="54864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80974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Выбери одну: полезна тебе, готова за вечер, без платежей и чужих данных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4050792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57400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2011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5603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тебя есть 3 идеи проектов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Выбранный проект можно сделать за вечер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нём нет платежей и чужих данных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4526280"/>
            <a:ext cx="4050792" cy="1554480"/>
          </a:xfrm>
          <a:prstGeom prst="roundRect">
            <a:avLst>
              <a:gd name="adj" fmla="val 8235"/>
            </a:avLst>
          </a:prstGeom>
          <a:solidFill>
            <a:srgbClr val="FFF3E3"/>
          </a:solidFill>
          <a:ln w="9525">
            <a:solidFill>
              <a:srgbClr val="F4D9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916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321040" y="4663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5120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Начинать с «сделай мне маркетплейс». Начни с малого и доведи до конца.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Инструменты вайбкодинга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урока: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Выбрать и настроить рабочее окружение.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1865376"/>
            <a:ext cx="402336" cy="402336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27648" y="1828800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Браузерные конструкторы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описал — получил приложение, без установки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2889504"/>
            <a:ext cx="402336" cy="402336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27648" y="2852928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Редактор кода с ИИ-агентом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видит все файлы проекта, правит их и запускает команды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3913632"/>
            <a:ext cx="402336" cy="402336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27648" y="3877056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Чат-модель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хороша для советов и фрагментов, но не видит весь проект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4937760"/>
            <a:ext cx="402336" cy="402336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4901184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выбрать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старта — то, что проще запустить и что тебе понятно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1828800"/>
            <a:ext cx="4663440" cy="4160520"/>
          </a:xfrm>
          <a:prstGeom prst="roundRect">
            <a:avLst>
              <a:gd name="adj" fmla="val 3516"/>
            </a:avLst>
          </a:prstGeom>
          <a:solidFill>
            <a:srgbClr val="15122E"/>
          </a:solidFill>
          <a:ln w="6350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МИНИ-СХЕМА ВЫБОРА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514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Хочу быстро и без установки →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браузерный конструктор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Хочу контроль и файлы у себя →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редактор кода с ИИ-агентом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 вопрос по коду → чат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Инструменты вайбкодинга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Пустой проект и первая кнопка на странице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Выбери один инструмент: браузерный конструктор или редактор кода с агентом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548640" cy="54864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614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Зарегистрируйся и создай пустой проект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77056"/>
            <a:ext cx="548640" cy="54864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78561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Попроси: «Создай страницу с заголовком Hello и кнопкой»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01184"/>
            <a:ext cx="548640" cy="54864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80974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Убедись, что видишь результат в окне предпросмотра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4050792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57400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2011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5603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Рабочее окружение настроено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с кнопкой открывается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понимаешь, где смотреть результат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4526280"/>
            <a:ext cx="4050792" cy="1554480"/>
          </a:xfrm>
          <a:prstGeom prst="roundRect">
            <a:avLst>
              <a:gd name="adj" fmla="val 8235"/>
            </a:avLst>
          </a:prstGeom>
          <a:solidFill>
            <a:srgbClr val="FFF3E3"/>
          </a:solidFill>
          <a:ln w="9525">
            <a:solidFill>
              <a:srgbClr val="F4D9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916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321040" y="4663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5120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Менять инструменты каждый день. Освой один — переключаться потом легко.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ставить задачу агенту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урока: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Научиться писать ТЗ, по которому ИИ соберёт то, что нужно.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402336" cy="402336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828800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за проект и для кого он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9504"/>
            <a:ext cx="402336" cy="402336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852928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конкретных возможностей, не больше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13632"/>
            <a:ext cx="402336" cy="402336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877056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готовности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понять, что работает: «после перезагрузки данные на месте»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37760"/>
            <a:ext cx="402336" cy="402336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4901184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Маленькие шаги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каркас, потом функции, потом дизайн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949440" y="1828800"/>
            <a:ext cx="4663440" cy="4160520"/>
          </a:xfrm>
          <a:prstGeom prst="roundRect">
            <a:avLst>
              <a:gd name="adj" fmla="val 3516"/>
            </a:avLst>
          </a:prstGeom>
          <a:solidFill>
            <a:srgbClr val="15122E"/>
          </a:solidFill>
          <a:ln w="6350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2694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МИНИ-ТЗ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514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трекер привычек для меня.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Функции: добавить привычку, отметить сегодня, показать серию дней.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Готово, когда: данные сохраняются после перезагрузки страницы.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Стиль: минимализм, тёмная тема.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сделай каркас без оформления.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Как ставить задачу агенту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с мини-ТЗ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Опиши проект в 1–2 предложениях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548640" cy="54864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614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Выпиши 3–5 функций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77056"/>
            <a:ext cx="548640" cy="54864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78561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каждой функции напиши критерий «готово, когда…»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01184"/>
            <a:ext cx="548640" cy="54864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80974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Разбей работу на 3 шага и сохрани ТЗ в файле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4050792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57400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2011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5603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ТЗ есть цель, функции и критерии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Функций не больше пяти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разбита на шаги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4526280"/>
            <a:ext cx="4050792" cy="1554480"/>
          </a:xfrm>
          <a:prstGeom prst="roundRect">
            <a:avLst>
              <a:gd name="adj" fmla="val 8235"/>
            </a:avLst>
          </a:prstGeom>
          <a:solidFill>
            <a:srgbClr val="FFF3E3"/>
          </a:solidFill>
          <a:ln w="9525">
            <a:solidFill>
              <a:srgbClr val="F4D9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916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321040" y="4663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5120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Писать «сделай красиво, как у больших». Нет критерия — будет случайный результат.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Первый проект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урока: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работающий мини-проект по шагам.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1865376"/>
            <a:ext cx="402336" cy="402336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27648" y="1828800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итерации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каркас → функции → оформление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2889504"/>
            <a:ext cx="402336" cy="402336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27648" y="2852928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Проверяй после каждого шага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 результат и попробуй сам, прежде чем идти дальше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3913632"/>
            <a:ext cx="402336" cy="402336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27648" y="3877056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Пиши наблюдения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«кнопка ничего не делает», а не просто «сломано»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4937760"/>
            <a:ext cx="402336" cy="402336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4901184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Сохраняй рабочее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крупной правкой делай копию: в 3.1 — через Git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1828800"/>
            <a:ext cx="4663440" cy="4160520"/>
          </a:xfrm>
          <a:prstGeom prst="roundRect">
            <a:avLst>
              <a:gd name="adj" fmla="val 3516"/>
            </a:avLst>
          </a:prstGeom>
          <a:solidFill>
            <a:srgbClr val="15122E"/>
          </a:solidFill>
          <a:ln w="6350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ПРОМПТОВ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514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Создай каркас по ТЗ, без стилей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Добавь функцию №1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Проверь и исправь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Добавь функции №2 и №3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Оформи: цвета, шрифты, адаптив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Первый проект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Рабочее приложение по твоему ТЗ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Выбери проект: трекер привычек, калькулятор чаевых или страница-визитка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548640" cy="54864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614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Отдай агенту ТЗ из урока 2.3 и попроси сначала каркас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77056"/>
            <a:ext cx="548640" cy="54864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78561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Добавляй функции по одной и проверяй каждую в предпросмотре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01184"/>
            <a:ext cx="548640" cy="54864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80974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Оформи внешний вид и проверь на телефоне или в узком окне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4050792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57400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2011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5603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функции из ТЗ работают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нормально выглядит на телефоне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можешь показать его другу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4526280"/>
            <a:ext cx="4050792" cy="1554480"/>
          </a:xfrm>
          <a:prstGeom prst="roundRect">
            <a:avLst>
              <a:gd name="adj" fmla="val 8235"/>
            </a:avLst>
          </a:prstGeom>
          <a:solidFill>
            <a:srgbClr val="FFF3E3"/>
          </a:solidFill>
          <a:ln w="9525">
            <a:solidFill>
              <a:srgbClr val="F4D9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916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321040" y="4663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5120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Просить всё одним огромным промптом. Так агент теряет детали и ломает работающее.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Ошибки и отладка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урока: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Спокойно разбираться с ошибками вместе с ИИ.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402336" cy="402336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828800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— подсказка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скопируй её текст целиком, ничего не сокращая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9504"/>
            <a:ext cx="402336" cy="402336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852928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сообщения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делал, что ожидал, что получил, текст ошибки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13632"/>
            <a:ext cx="402336" cy="402336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877056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Консоль браузера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открывается на F12, там видны ошибки страницы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37760"/>
            <a:ext cx="402336" cy="402336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4901184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агент ходит по кругу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откати изменение и переформулируй задачу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949440" y="1828800"/>
            <a:ext cx="4663440" cy="4160520"/>
          </a:xfrm>
          <a:prstGeom prst="roundRect">
            <a:avLst>
              <a:gd name="adj" fmla="val 3516"/>
            </a:avLst>
          </a:prstGeom>
          <a:solidFill>
            <a:srgbClr val="15122E"/>
          </a:solidFill>
          <a:ln w="6350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2694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СООБЩИТЬ ОБ ОШИБКЕ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514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нажал „Добавить“. Ожидал: привычка появится в списке. Получил: ничего. В консоли: [текст ошибки]. Найди причину и исправь минимальным изменением».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Ошибки и отладка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найденных и исправленных бага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Попроси ИИ добавить в твой проект 3 небольших бага и не говорить, где они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548640" cy="54864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614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 консоль браузера на F12 и найди сообщения об ошибках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77056"/>
            <a:ext cx="548640" cy="54864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78561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Опиши каждую проблему по схеме «делал / ожидал / получил / ошибка»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01184"/>
            <a:ext cx="548640" cy="54864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80974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Проверь, что исправления минимальные и ничего не сломали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4050792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57400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2011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5603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Найдены все 3 бага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проблема описана по схеме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Исправления не сломали остальное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4526280"/>
            <a:ext cx="4050792" cy="1554480"/>
          </a:xfrm>
          <a:prstGeom prst="roundRect">
            <a:avLst>
              <a:gd name="adj" fmla="val 8235"/>
            </a:avLst>
          </a:prstGeom>
          <a:solidFill>
            <a:srgbClr val="FFF3E3"/>
          </a:solidFill>
          <a:ln w="9525">
            <a:solidFill>
              <a:srgbClr val="F4D9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916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321040" y="4663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5120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Писать «не работает» без деталей. Агенту нечего анализировать.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Минимум о коде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урока: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Понимать, что сгенерировано, без углубления в программирование.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1865376"/>
            <a:ext cx="402336" cy="402336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27648" y="1828800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находится на странице: заголовки, кнопки, поля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2889504"/>
            <a:ext cx="402336" cy="402336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27648" y="2852928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выглядит: цвета, шрифты, отступы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3913632"/>
            <a:ext cx="402336" cy="402336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27648" y="3877056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страница ведёт себя: клики, сохранение, расчёты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4937760"/>
            <a:ext cx="402336" cy="402336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4901184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Привычка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проси агента: «Объясни, что ты изменил, простыми словами»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1828800"/>
            <a:ext cx="4663440" cy="4160520"/>
          </a:xfrm>
          <a:prstGeom prst="roundRect">
            <a:avLst>
              <a:gd name="adj" fmla="val 3516"/>
            </a:avLst>
          </a:prstGeom>
          <a:solidFill>
            <a:srgbClr val="15122E"/>
          </a:solidFill>
          <a:ln w="6350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 ПРОЕКТА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514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 → структура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  → оформление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  → поведение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Промпт: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«Прокомментируй файл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как для новичка».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Минимум о коде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 проекта с понятными комментариями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 файлы своего проекта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548640" cy="54864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614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Попроси ИИ добавить понятные комментарии к каждому файлу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77056"/>
            <a:ext cx="548640" cy="54864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78561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Найди, где меняется цвет кнопки и где описано поведение при клике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01184"/>
            <a:ext cx="548640" cy="54864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80974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Измени цвет вручную и убедись, что понимаешь, что произошло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4050792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57400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2011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5603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знаешь назначение каждого файла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нашёл, где меняется цвет кнопки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изменил что-то вручную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4526280"/>
            <a:ext cx="4050792" cy="1554480"/>
          </a:xfrm>
          <a:prstGeom prst="roundRect">
            <a:avLst>
              <a:gd name="adj" fmla="val 8235"/>
            </a:avLst>
          </a:prstGeom>
          <a:solidFill>
            <a:srgbClr val="FFF3E3"/>
          </a:solidFill>
          <a:ln w="9525">
            <a:solidFill>
              <a:srgbClr val="F4D9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916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321040" y="4663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5120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Бояться заглядывать в файлы. Читать код не значит его писать.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ДЗ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Домашнее задание · Неделя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94360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5349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Собери мини-проект по своему ТЗ за 3 итерации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его на телефоне или в узком окне браузера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Опиши, где ты застрял и как выбрался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766560" y="1463040"/>
            <a:ext cx="4873752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086600" y="1645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сдать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214884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или архив с проектом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ТЗ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на полстраницы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66560" y="3749040"/>
            <a:ext cx="4873752" cy="2286000"/>
          </a:xfrm>
          <a:prstGeom prst="roundRect">
            <a:avLst>
              <a:gd name="adj" fmla="val 5600"/>
            </a:avLst>
          </a:prstGeom>
          <a:solidFill>
            <a:srgbClr val="15122E"/>
          </a:solidFill>
          <a:ln w="9525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086600" y="3931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зачёта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443484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запускается и выполняет 3 функции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ТЗ есть критерии готовности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отчёте описана хотя бы одна исправленная ошибка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51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548640"/>
            <a:ext cx="6583680" cy="6583680"/>
          </a:xfrm>
          <a:prstGeom prst="ellipse">
            <a:avLst/>
          </a:prstGeom>
          <a:solidFill>
            <a:srgbClr val="D9730D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-1280160"/>
            <a:ext cx="2194560" cy="2194560"/>
          </a:xfrm>
          <a:prstGeom prst="ellipse">
            <a:avLst/>
          </a:prstGeom>
          <a:solidFill>
            <a:srgbClr val="B8F14A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4114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92024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Проект, Git и данные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40233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7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Довести проект до состояния «показать людям» и научиться сохранять версии.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уроков · практика · домашнее задание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Неделя 3: программа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недели: Довести проект до состояния «показать людям» и научиться сохранять версии.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892808"/>
            <a:ext cx="603504" cy="603504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и GitHub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 с 5 коммитами и одним откатом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53912" y="1691640"/>
            <a:ext cx="539496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82512" y="1892808"/>
            <a:ext cx="603504" cy="603504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05472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и README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с описанием и скриншотом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807208"/>
            <a:ext cx="539496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3008376"/>
            <a:ext cx="603504" cy="603504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28986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данных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3101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Проект, который помнит данные после перезагрузки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53912" y="2807208"/>
            <a:ext cx="539496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82512" y="3008376"/>
            <a:ext cx="603504" cy="603504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205472" y="28986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и ключи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205472" y="33101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Подключённый сервис, ключ не попал в репозиторий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922776"/>
            <a:ext cx="539496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77240" y="4123944"/>
            <a:ext cx="603504" cy="603504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01421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4256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 из 10 сценариев с результатами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53912" y="3922776"/>
            <a:ext cx="539496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382512" y="4123944"/>
            <a:ext cx="603504" cy="603504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205472" y="401421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ИИ зациклился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7205472" y="44256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Сжатое описание проекта для нового чата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5038344"/>
            <a:ext cx="11091672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77240" y="5239512"/>
            <a:ext cx="603504" cy="603504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ДЗ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5129784"/>
            <a:ext cx="9811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5541264"/>
            <a:ext cx="9811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Сдача в конце недели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и GitHub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урока: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Сохранять версии проекта и уметь откатываться.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402336" cy="402336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828800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Коммит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«сохранение» проекта с описанием: к нему всегда можно вернуться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9504"/>
            <a:ext cx="402336" cy="402336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852928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папка проекта с историей; GitHub хранит её в облаке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13632"/>
            <a:ext cx="402336" cy="402336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877056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Ветка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копия для экспериментов, чтобы не сломать рабочую версию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37760"/>
            <a:ext cx="402336" cy="402336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4901184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Откат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 к версии, где всё работало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949440" y="1828800"/>
            <a:ext cx="4663440" cy="4160520"/>
          </a:xfrm>
          <a:prstGeom prst="roundRect">
            <a:avLst>
              <a:gd name="adj" fmla="val 3516"/>
            </a:avLst>
          </a:prstGeom>
          <a:solidFill>
            <a:srgbClr val="15122E"/>
          </a:solidFill>
          <a:ln w="6350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2694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КОМАНДЫ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514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'Первая версия'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 HEAD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Агент может выполнить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команды за тебя.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Git и GitHub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 с 5 коммитами и одним откатом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Создай аккаунт на GitHub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548640" cy="54864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614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Создай репозиторий и загрузи проект, можно попросить агента сделать это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77056"/>
            <a:ext cx="548640" cy="54864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78561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Сделай 5 коммитов с понятными сообщениями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01184"/>
            <a:ext cx="548640" cy="54864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80974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Намеренно сломай что-то и вернись к рабочей версии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4050792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57400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2011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5603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есть на GitHub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истории минимум 5 коммитов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выполнил откат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4526280"/>
            <a:ext cx="4050792" cy="1554480"/>
          </a:xfrm>
          <a:prstGeom prst="roundRect">
            <a:avLst>
              <a:gd name="adj" fmla="val 8235"/>
            </a:avLst>
          </a:prstGeom>
          <a:solidFill>
            <a:srgbClr val="FFF3E3"/>
          </a:solidFill>
          <a:ln w="9525">
            <a:solidFill>
              <a:srgbClr val="F4D9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916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321040" y="4663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5120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Делать один огромный коммит в конце. Коммить после каждого рабочего шага.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и README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урока: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 проект понятным другим людям и себе через месяц.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1865376"/>
            <a:ext cx="402336" cy="402336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27648" y="1828800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проекта: что делает, как запустить, как выглядит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2889504"/>
            <a:ext cx="402336" cy="402336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27648" y="2852928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Имена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понятные названия файлов и папок без «новый_финал_2»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3913632"/>
            <a:ext cx="402336" cy="402336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27648" y="3877056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Папки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для картинок, отдельные файлы для стилей и скриптов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4937760"/>
            <a:ext cx="402336" cy="402336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4901184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инструкция в 3–5 шагов, которую поймёт новичок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1828800"/>
            <a:ext cx="4663440" cy="4160520"/>
          </a:xfrm>
          <a:prstGeom prst="roundRect">
            <a:avLst>
              <a:gd name="adj" fmla="val 3516"/>
            </a:avLst>
          </a:prstGeom>
          <a:solidFill>
            <a:srgbClr val="15122E"/>
          </a:solidFill>
          <a:ln w="6350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КАРКАС README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514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Название проекта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это и для кого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Возможности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Как запустить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Скриншот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Автор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Структура и README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с описанием и скриншотом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Попроси ИИ составить README по коду проекта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548640" cy="54864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614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Проверь, что описание совпадает с реальностью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77056"/>
            <a:ext cx="548640" cy="54864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78561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 скриншот работающего проекта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01184"/>
            <a:ext cx="548640" cy="54864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80974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Дай инструкцию другу и посмотри, сможет ли он запустить проект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4050792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57400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2011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5603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отвечает на вопросы «что» и «как запустить»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скриншот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Другой человек смог запустить проект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4526280"/>
            <a:ext cx="4050792" cy="1554480"/>
          </a:xfrm>
          <a:prstGeom prst="roundRect">
            <a:avLst>
              <a:gd name="adj" fmla="val 8235"/>
            </a:avLst>
          </a:prstGeom>
          <a:solidFill>
            <a:srgbClr val="FFF3E3"/>
          </a:solidFill>
          <a:ln w="9525">
            <a:solidFill>
              <a:srgbClr val="F4D9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916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321040" y="4663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5120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Написать README до проекта и забыть обновить. Проверяй, что он актуален.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Хранение данных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урока: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Сохранять данные пользователя и понимать, где они лежат.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402336" cy="402336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828800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хранятся в браузере пользователя, проще всего для старта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9504"/>
            <a:ext cx="402336" cy="402336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852928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или база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нужны, если данные общие для многих пользователей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13632"/>
            <a:ext cx="402336" cy="402336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877056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localStorage данные видны только в этом браузере и на этом устройстве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37760"/>
            <a:ext cx="402336" cy="402336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4901184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Ответственность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думай: какие данные собираешь и зачем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949440" y="1828800"/>
            <a:ext cx="4663440" cy="4160520"/>
          </a:xfrm>
          <a:prstGeom prst="roundRect">
            <a:avLst>
              <a:gd name="adj" fmla="val 3516"/>
            </a:avLst>
          </a:prstGeom>
          <a:solidFill>
            <a:srgbClr val="15122E"/>
          </a:solidFill>
          <a:ln w="6350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2694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 ДЛЯ СОХРАНЕНИЯ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514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«Сохраняй список привычек в localStorage, чтобы после перезагрузки страницы данные не терялись. Добавь кнопку „Очистить всё“ с подтверждением».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Хранение данных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Проект, который помнит данные после перезагрузки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 сохранение данных в проект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548640" cy="54864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614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Обнови страницу и проверь, что данные на месте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77056"/>
            <a:ext cx="548640" cy="54864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78561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 проект в другом браузере: данных нет. Объясни, почему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01184"/>
            <a:ext cx="548640" cy="54864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80974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Реши, нужна ли тебе общая база, и запиши почему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4050792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57400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2011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5603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не пропадают после перезагрузки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понимаешь, почему в другом браузере их нет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решение по общей базе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4526280"/>
            <a:ext cx="4050792" cy="1554480"/>
          </a:xfrm>
          <a:prstGeom prst="roundRect">
            <a:avLst>
              <a:gd name="adj" fmla="val 8235"/>
            </a:avLst>
          </a:prstGeom>
          <a:solidFill>
            <a:srgbClr val="FFF3E3"/>
          </a:solidFill>
          <a:ln w="9525">
            <a:solidFill>
              <a:srgbClr val="F4D9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916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321040" y="4663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5120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Хранить пароли и личные данные в localStorage: они не защищены.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и ключи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урока: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Подключать внешние сервисы и не терять контроль над секретами.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1865376"/>
            <a:ext cx="402336" cy="402336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27648" y="1828800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способ, которым программы обращаются к сервисам: погода, карты, ИИ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2889504"/>
            <a:ext cx="402336" cy="402336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27648" y="2852928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— это пароль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он утёк, сервисом пользуются за твой счёт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3913632"/>
            <a:ext cx="402336" cy="402336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27648" y="3877056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хранить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файле .env, добавленном в .gitignore, а не в коде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4937760"/>
            <a:ext cx="402336" cy="402336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4901184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Браузерный код виден всем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платных сервисов нужен серверный слой; ставь лимиты расходов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1828800"/>
            <a:ext cx="4663440" cy="4160520"/>
          </a:xfrm>
          <a:prstGeom prst="roundRect">
            <a:avLst>
              <a:gd name="adj" fmla="val 3516"/>
            </a:avLst>
          </a:prstGeom>
          <a:solidFill>
            <a:srgbClr val="15122E"/>
          </a:solidFill>
          <a:ln w="6350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КЛЮЧА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514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WEATHER_API_KEY=ВАШ_КЛЮЧ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Ключ не публикуем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 не показываем в чате.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API и ключи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Подключённый сервис, ключ не попал в репозиторий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Выбери бесплатный публичный API, например прогноз погоды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548640" cy="54864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614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 ключ в личном кабинете сервиса и задай лимит расходов, если он есть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77056"/>
            <a:ext cx="548640" cy="54864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78561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Попроси агента подключить сервис через .env и добавить .env в .gitignore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01184"/>
            <a:ext cx="548640" cy="54864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80974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репозиторий на GitHub: файла .env там быть не должно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4050792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57400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2011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5603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подключён и работает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добавлен в .gitignore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Ключа нет в репозитории и в коде страницы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4526280"/>
            <a:ext cx="4050792" cy="1554480"/>
          </a:xfrm>
          <a:prstGeom prst="roundRect">
            <a:avLst>
              <a:gd name="adj" fmla="val 8235"/>
            </a:avLst>
          </a:prstGeom>
          <a:solidFill>
            <a:srgbClr val="FFF3E3"/>
          </a:solidFill>
          <a:ln w="9525">
            <a:solidFill>
              <a:srgbClr val="F4D9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916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321040" y="4663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5120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Отправить ключ в публичный репозиторий. Если это случилось, сразу отзови его и создай новый.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Тестирование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урока: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Проверять проект системно, а не «на глаз».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402336" cy="402336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828800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«пользователь делает A → должно быть B»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9504"/>
            <a:ext cx="402336" cy="402336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852928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Крайние случаи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пустое поле, очень длинный текст, двойной клик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13632"/>
            <a:ext cx="402336" cy="402336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877056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Устройства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на телефоне и в другом браузере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37760"/>
            <a:ext cx="402336" cy="402336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4901184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Приоритеты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критично, неприятно, мелочь: с критичного и начинай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949440" y="1828800"/>
            <a:ext cx="4663440" cy="4160520"/>
          </a:xfrm>
          <a:prstGeom prst="roundRect">
            <a:avLst>
              <a:gd name="adj" fmla="val 3516"/>
            </a:avLst>
          </a:prstGeom>
          <a:solidFill>
            <a:srgbClr val="15122E"/>
          </a:solidFill>
          <a:ln w="6350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2694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 ТЕСТОВ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514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привычку → появилась в списке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Пустое название → понятное сообщение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Очень длинный текст → не ломает вёрстку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Обновить страницу → данные на месте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 → всё читается и нажимается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Тестирование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 из 10 сценариев с результатами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Составь чек-лист из 10 сценариев, включая крайние случаи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548640" cy="54864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614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Пройди по нему и отметь результат каждого сценария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77056"/>
            <a:ext cx="548640" cy="54864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78561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Собери найденные баги в список с приоритетами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01184"/>
            <a:ext cx="548640" cy="54864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80974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Исправь критичные через агента и пройди чек-лист заново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4050792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57400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2011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5603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чек-лист из 10 сценариев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Найдено и записано минимум 3 проблемы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Критичные исправлены и перепроверены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4526280"/>
            <a:ext cx="4050792" cy="1554480"/>
          </a:xfrm>
          <a:prstGeom prst="roundRect">
            <a:avLst>
              <a:gd name="adj" fmla="val 8235"/>
            </a:avLst>
          </a:prstGeom>
          <a:solidFill>
            <a:srgbClr val="FFF3E3"/>
          </a:solidFill>
          <a:ln w="9525">
            <a:solidFill>
              <a:srgbClr val="F4D9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916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321040" y="4663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5120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Проверять только «счастливый путь». Пользователи делают неожиданное.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Когда ИИ зациклился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урока: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Выходить из тупика, когда агент не справляется.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1865376"/>
            <a:ext cx="402336" cy="402336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27648" y="1828800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правки не помогают, возвращаются старые ошибки, ломается рабочее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2889504"/>
            <a:ext cx="402336" cy="402336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27648" y="2852928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Откат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вернись к последнему рабочему коммиту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3913632"/>
            <a:ext cx="402336" cy="402336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27648" y="3877056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чат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дай сжатое описание: цель, что работает, в чём проблема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4937760"/>
            <a:ext cx="402336" cy="402336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4901184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причина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проси объяснить, почему не работает, и только потом чинить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1828800"/>
            <a:ext cx="4663440" cy="4160520"/>
          </a:xfrm>
          <a:prstGeom prst="roundRect">
            <a:avLst>
              <a:gd name="adj" fmla="val 3516"/>
            </a:avLst>
          </a:prstGeom>
          <a:solidFill>
            <a:srgbClr val="15122E"/>
          </a:solidFill>
          <a:ln w="6350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 ДЛЯ НОВОГО ЧАТА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514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«Проект — трекер привычек (HTML/JS). Работает: добавление. Не работает: удаление, список не обновляется. Файлы: index.html, script.js. Сначала объясни причину, потом предложи минимальное исправление».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Когда ИИ зациклился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Сжатое описание проекта для нового чата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Запиши, что именно сломалось и после какой правки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548640" cy="54864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614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Откатись к последней рабочей версии в Git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77056"/>
            <a:ext cx="548640" cy="54864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78561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 новый чат с кратким описанием проекта и проблемы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01184"/>
            <a:ext cx="548640" cy="54864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80974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Проси сначала причину, потом минимальное исправление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4050792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57400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2011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5603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вернулся к рабочей версии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чат получил чёткое описание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решена меньшей правкой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4526280"/>
            <a:ext cx="4050792" cy="1554480"/>
          </a:xfrm>
          <a:prstGeom prst="roundRect">
            <a:avLst>
              <a:gd name="adj" fmla="val 8235"/>
            </a:avLst>
          </a:prstGeom>
          <a:solidFill>
            <a:srgbClr val="FFF3E3"/>
          </a:solidFill>
          <a:ln w="9525">
            <a:solidFill>
              <a:srgbClr val="F4D9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916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321040" y="4663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5120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Продолжать в одном чате 40 попыток подряд. Контекст засоряется.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ДЗ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Домашнее задание · Неделя 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94360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5349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Загрузи проект в GitHub и оформи README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 сохранение данных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Составь чек-лист тестов и пройди его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Убедись, что в репозитории нет ключей и паролей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766560" y="1463040"/>
            <a:ext cx="4873752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086600" y="1645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сдать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214884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на репозиторий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 тестов с результатами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66560" y="3749040"/>
            <a:ext cx="4873752" cy="2286000"/>
          </a:xfrm>
          <a:prstGeom prst="roundRect">
            <a:avLst>
              <a:gd name="adj" fmla="val 5600"/>
            </a:avLst>
          </a:prstGeom>
          <a:solidFill>
            <a:srgbClr val="15122E"/>
          </a:solidFill>
          <a:ln w="9525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086600" y="3931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зачёта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443484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5 понятных коммитов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README: что это и как запустить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.env не попал в репозиторий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51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548640"/>
            <a:ext cx="6583680" cy="6583680"/>
          </a:xfrm>
          <a:prstGeom prst="ellipse">
            <a:avLst/>
          </a:prstGeom>
          <a:solidFill>
            <a:srgbClr val="D6336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-1280160"/>
            <a:ext cx="2194560" cy="2194560"/>
          </a:xfrm>
          <a:prstGeom prst="ellipse">
            <a:avLst/>
          </a:prstGeom>
          <a:solidFill>
            <a:srgbClr val="B8F14A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4114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92024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Публикация и финальный проект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40233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7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Выпустить проект в интернет и подготовить кейс в портфолио.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уроков · практика · финальный проект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Неделя 4: программа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недели: Выпустить проект в интернет и подготовить кейс в портфолио.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892808"/>
            <a:ext cx="603504" cy="603504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открывается по публичной ссылке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53912" y="1691640"/>
            <a:ext cx="539496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82512" y="1892808"/>
            <a:ext cx="603504" cy="603504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05472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Улучшаем внешний вид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Редизайн проекта в едином стиле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807208"/>
            <a:ext cx="539496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3008376"/>
            <a:ext cx="603504" cy="603504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28986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Юридическая гигиена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3101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Пройденный чек-лист безопасности проекта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53912" y="2807208"/>
            <a:ext cx="539496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82512" y="3008376"/>
            <a:ext cx="603504" cy="603504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205472" y="28986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учиться дальше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205472" y="33101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на 3 месяца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922776"/>
            <a:ext cx="539496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77240" y="4123944"/>
            <a:ext cx="603504" cy="603504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01421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проекта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4256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3-минутная запись защиты и ссылка на проект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53912" y="3922776"/>
            <a:ext cx="539496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382512" y="4123944"/>
            <a:ext cx="603504" cy="603504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205472" y="401421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проект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7205472" y="44256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Опубликованное приложение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Публикация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урока: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Опубликовать проект по ссылке с HTTPS.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402336" cy="402336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828800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Хостинг статики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 сайт (HTML, CSS, JS) публикуется бесплатно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9504"/>
            <a:ext cx="402336" cy="402336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852928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Автообновление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подключил репозиторий — сайт обновляется при каждом коммите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13632"/>
            <a:ext cx="402336" cy="402336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877056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и HTTPS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получаешь адрес с защищённым соединением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37760"/>
            <a:ext cx="402336" cy="402336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4901184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домен можно подключить позже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949440" y="1828800"/>
            <a:ext cx="4663440" cy="4160520"/>
          </a:xfrm>
          <a:prstGeom prst="roundRect">
            <a:avLst>
              <a:gd name="adj" fmla="val 3516"/>
            </a:avLst>
          </a:prstGeom>
          <a:solidFill>
            <a:srgbClr val="15122E"/>
          </a:solidFill>
          <a:ln w="6350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2694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ПУБЛИКАЦИИ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514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 на GitHub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Подключить хостинг статики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Выбрать ветку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ссылку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с телефона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Публикация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открывается по публичной ссылке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Выбери хостинг для статических сайтов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548640" cy="54864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614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 репозиторий проекта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77056"/>
            <a:ext cx="548640" cy="54864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78561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Опубликуй и открой полученную ссылку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01184"/>
            <a:ext cx="548640" cy="54864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80974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Внеси правку, закоммить и убедись, что сайт обновился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4050792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57400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2011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5603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открывается у другого человека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HTTPS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после коммита работает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4526280"/>
            <a:ext cx="4050792" cy="1554480"/>
          </a:xfrm>
          <a:prstGeom prst="roundRect">
            <a:avLst>
              <a:gd name="adj" fmla="val 8235"/>
            </a:avLst>
          </a:prstGeom>
          <a:solidFill>
            <a:srgbClr val="FFF3E3"/>
          </a:solidFill>
          <a:ln w="9525">
            <a:solidFill>
              <a:srgbClr val="F4D9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916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321040" y="4663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5120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Публиковать проект с ключами или личными данными в коде.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Улучшаем внешний вид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урока: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 проект аккуратным и читаемым.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1865376"/>
            <a:ext cx="402336" cy="402336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27648" y="1828800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 дизайна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цвета, 1–2 шрифта, отступы и иерархия заголовков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2889504"/>
            <a:ext cx="402336" cy="402336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27648" y="2852928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Референсы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опиши стиль словами и покажи примеры, которые нравятся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3913632"/>
            <a:ext cx="402336" cy="402336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27648" y="3877056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Читаемость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контраст текста, шрифт от 16 px, крупные кнопки для пальца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4937760"/>
            <a:ext cx="402336" cy="402336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4901184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ширину телефона и планшета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1828800"/>
            <a:ext cx="4663440" cy="4160520"/>
          </a:xfrm>
          <a:prstGeom prst="roundRect">
            <a:avLst>
              <a:gd name="adj" fmla="val 3516"/>
            </a:avLst>
          </a:prstGeom>
          <a:solidFill>
            <a:srgbClr val="15122E"/>
          </a:solidFill>
          <a:ln w="6350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 ДЛЯ ДИЗАЙНА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514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«Сделай минималистичный интерфейс: тёмный фон, один яркий акцент, шрифт без засечек, крупные кнопки, отступы 16 px, читаемый на телефоне. Дай 2 варианта».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Улучшаем внешний вид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Редизайн проекта в едином стиле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Найди 3 сайта, которые нравятся, и выпиши, что именно тебе в них нравится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548640" cy="54864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614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Опиши этот стиль в промпте: цвета, шрифт, настроение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77056"/>
            <a:ext cx="548640" cy="54864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78561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Попроси 2 варианта и выбери лучший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01184"/>
            <a:ext cx="548640" cy="54864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80974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контраст и внешний вид на телефоне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4050792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57400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2011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5603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больше 3 цветов и 2 шрифтов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легко читается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удобен на телефоне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4526280"/>
            <a:ext cx="4050792" cy="1554480"/>
          </a:xfrm>
          <a:prstGeom prst="roundRect">
            <a:avLst>
              <a:gd name="adj" fmla="val 8235"/>
            </a:avLst>
          </a:prstGeom>
          <a:solidFill>
            <a:srgbClr val="FFF3E3"/>
          </a:solidFill>
          <a:ln w="9525">
            <a:solidFill>
              <a:srgbClr val="F4D9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916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321040" y="4663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5120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Добавлять всё подряд: десять цветов и много анимаций. Меньше — лучше.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Юридическая гигиена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урока: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нарушить чужие права и не навредить пользователям.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402336" cy="402336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828800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собирай лишнего; если собираешь, объясни пользователю зачем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9504"/>
            <a:ext cx="402336" cy="402336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852928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Лицензии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проверяй картинки, шрифты и код; условия ИИ-сервиса тоже важны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13632"/>
            <a:ext cx="402336" cy="402336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877056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Чужие секреты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вставляй в чат ИИ чужие персональные данные, пароли и коммерческие тайны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37760"/>
            <a:ext cx="402336" cy="402336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4901184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Маркировка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помечай ИИ-контент там, где этого требуют площадка или закон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949440" y="1828800"/>
            <a:ext cx="4663440" cy="4160520"/>
          </a:xfrm>
          <a:prstGeom prst="roundRect">
            <a:avLst>
              <a:gd name="adj" fmla="val 3516"/>
            </a:avLst>
          </a:prstGeom>
          <a:solidFill>
            <a:srgbClr val="15122E"/>
          </a:solidFill>
          <a:ln w="6350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2694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 ПРОЕКТА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514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Нет ключей и паролей в коде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У картинок и шрифтов понятная лицензия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Нет чужих личных данных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Указано, что использован ИИ, если требуется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Есть контакт автора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Юридическая гигиена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Пройденный чек-лист безопасности проекта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Пройди чек-лист по своему проекту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548640" cy="54864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614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лицензии всех картинок и шрифтов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77056"/>
            <a:ext cx="548640" cy="54864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78561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 в подвал сайта контакт автора и, при необходимости, пометку об ИИ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01184"/>
            <a:ext cx="548640" cy="54864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80974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Запиши, какие данные собирает проект, или «никакие»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4050792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57400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2011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5603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 пройден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Лицензии проверены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Указано, какие данные собираются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4526280"/>
            <a:ext cx="4050792" cy="1554480"/>
          </a:xfrm>
          <a:prstGeom prst="roundRect">
            <a:avLst>
              <a:gd name="adj" fmla="val 8235"/>
            </a:avLst>
          </a:prstGeom>
          <a:solidFill>
            <a:srgbClr val="FFF3E3"/>
          </a:solidFill>
          <a:ln w="9525">
            <a:solidFill>
              <a:srgbClr val="F4D9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916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321040" y="4663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5120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Считать, что «сгенерировал ИИ — значит свободно для любых целей». Условия у сервисов разные.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учиться дальше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урока: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Выбрать свою траекторию и не потерять темп.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1865376"/>
            <a:ext cx="402336" cy="402336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27648" y="1828800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на 3 месяца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конкретный результат: сайт, ролики, серия фото, аватар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2889504"/>
            <a:ext cx="402336" cy="402336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27648" y="2852928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курс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выбери по цели, а не по моде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3913632"/>
            <a:ext cx="402336" cy="402336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27648" y="3877056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Ритм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часов в неделю и один проект в месяц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4937760"/>
            <a:ext cx="402336" cy="402336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4901184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Обновления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надёжных источника вместо тысячи новостей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1828800"/>
            <a:ext cx="4663440" cy="4160520"/>
          </a:xfrm>
          <a:prstGeom prst="roundRect">
            <a:avLst>
              <a:gd name="adj" fmla="val 3516"/>
            </a:avLst>
          </a:prstGeom>
          <a:solidFill>
            <a:srgbClr val="15122E"/>
          </a:solidFill>
          <a:ln w="6350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ТРАЕКТОРИЙ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514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Сайты → курс 1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Монтаж → курс 2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 с нуля → курс 3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→ курс 4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Аватары → курс 5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Как учиться дальше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на 3 месяца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Сформулируй цель на 3 месяца одним предложением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548640" cy="54864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614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Выбери следующий курс на основе цели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77056"/>
            <a:ext cx="548640" cy="54864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78561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Запланируй 4–6 часов в неделю в календаре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01184"/>
            <a:ext cx="548640" cy="54864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80974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Выбери проект, который сделаешь после курса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4050792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57400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2011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5603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записана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курс выбран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 обучения стоят в календаре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4526280"/>
            <a:ext cx="4050792" cy="1554480"/>
          </a:xfrm>
          <a:prstGeom prst="roundRect">
            <a:avLst>
              <a:gd name="adj" fmla="val 8235"/>
            </a:avLst>
          </a:prstGeom>
          <a:solidFill>
            <a:srgbClr val="FFF3E3"/>
          </a:solidFill>
          <a:ln w="9525">
            <a:solidFill>
              <a:srgbClr val="F4D9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916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321040" y="4663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5120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Учиться без проекта. Знания без практики быстро забываются.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Защита проекта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урока: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Уверенно показать результат за 3 минуты.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402336" cy="402336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828800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→ решение → демо → промпты → выводы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9504"/>
            <a:ext cx="402336" cy="402336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852928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Показывай живьём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работающая ссылка сильнее слайдов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13632"/>
            <a:ext cx="402336" cy="402336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877056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 о трудностях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расскажи об одной неудаче и как её решил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37760"/>
            <a:ext cx="402336" cy="402336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4901184"/>
            <a:ext cx="5285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дальше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назови следующий шаг проекта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949440" y="1828800"/>
            <a:ext cx="4663440" cy="4160520"/>
          </a:xfrm>
          <a:prstGeom prst="roundRect">
            <a:avLst>
              <a:gd name="adj" fmla="val 3516"/>
            </a:avLst>
          </a:prstGeom>
          <a:solidFill>
            <a:srgbClr val="15122E"/>
          </a:solidFill>
          <a:ln w="6350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2694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ТАЙМИНГ ВЫСТУПЛЕНИЯ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514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 Проблема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  Решение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 Демо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  Промпты и итерации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2:40  Выводы и что дальше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Защита проекта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3-минутная запись защиты и ссылка на проект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Напиши по одному предложению на каждый пункт структуры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548640" cy="54864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614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Запиши 3-минутное видео с экрана и голосом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77056"/>
            <a:ext cx="548640" cy="54864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78561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Отправь куратору ссылку на проект, видео и описание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01184"/>
            <a:ext cx="548640" cy="54864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80974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 обратную связь и внеси правки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4050792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57400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2011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5603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 укладывается в 3 минуты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открывается по ссылке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рассказ о трудности и её решении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4526280"/>
            <a:ext cx="4050792" cy="1554480"/>
          </a:xfrm>
          <a:prstGeom prst="roundRect">
            <a:avLst>
              <a:gd name="adj" fmla="val 8235"/>
            </a:avLst>
          </a:prstGeom>
          <a:solidFill>
            <a:srgbClr val="FFF3E3"/>
          </a:solidFill>
          <a:ln w="9525">
            <a:solidFill>
              <a:srgbClr val="F4D9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916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321040" y="4663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5120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Пересказывать теорию вместо показа результата.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84048"/>
            <a:ext cx="1001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Финальный проект курса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05156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Опубликованное приложение или страница с описанием: проблема → решение → промпты → ссылка.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должно быть в проекте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решает понятную задачу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ТЗ с критериями готовности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 более рабочие функции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сохраняются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Аккуратный вид на телефоне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скриншот и история коммитов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Публичная ссылка с HTTPS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330952" cy="4251960"/>
          </a:xfrm>
          <a:prstGeom prst="roundRect">
            <a:avLst>
              <a:gd name="adj" fmla="val 3011"/>
            </a:avLst>
          </a:prstGeom>
          <a:solidFill>
            <a:srgbClr val="15122E"/>
          </a:solidFill>
          <a:ln w="9525">
            <a:solidFill>
              <a:srgbClr val="151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29400" y="1965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F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зачёта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5146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открывается по ссылке и работает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README и история коммитов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можешь объяснить, что делает каждая часть на верхнем уровне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утёкших ключей и личных данных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Неделя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Чек-лист выпускника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572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6D5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Знания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Объясняю, что такое LLM, токен, контекст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Знаю, как работают галлюцинации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Понимаю HTML, CSS и JS на уровне ролей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Знаю, что такое Git и API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20440" cy="4572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0" y="1691640"/>
            <a:ext cx="548640" cy="548640"/>
          </a:xfrm>
          <a:prstGeom prst="ellipse">
            <a:avLst/>
          </a:prstGeom>
          <a:solidFill>
            <a:srgbClr val="0B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Навыки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46888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Пишу структурные промпты и делаю итерации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Ставлю задачу агенту через ТЗ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Читаю ошибки и описываю их для ИИ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Публикую проект и обновляю его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520440" cy="4572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21040" y="1691640"/>
            <a:ext cx="548640" cy="548640"/>
          </a:xfrm>
          <a:prstGeom prst="ellipse">
            <a:avLst/>
          </a:prstGeom>
          <a:solidFill>
            <a:srgbClr val="D973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900684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Привычки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46888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Проверяю факты и ссылки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Коммичу после рабочего шага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публикую ключи и личные данные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Веду библиотеку промптов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Основа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Глоссарий · часть 1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3852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большая языковая модель: генерирует текст, предсказывая продолжение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53912" y="146304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28232" y="15544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28232" y="193852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 слова: единица, кусочками которой читает модель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27432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2724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всё, что модель «помнит» в текущем диалоге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53912" y="265176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28232" y="27432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28232" y="312724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к нейросети: задача, контекст, формат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39319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Галлюцинация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31596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уверенный, но выдуманный ответ модели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53912" y="384048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28232" y="39319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ИИ-агент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28232" y="431596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помощник, который выполняет цепочку действий сам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2960" y="51206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Вайбкодинг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5046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программ через описание словами: код пишет ИИ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53912" y="502920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28232" y="51206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Итерация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428232" y="55046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цикл «попросил → проверил → уточнил»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Основа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Глоссарий · часть 2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3852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папка проекта с полной историей изменений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53912" y="146304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28232" y="15544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Коммит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28232" y="193852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сохранённая версия проекта с описанием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27432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Ветка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2724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параллельная версия проекта для экспериментов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53912" y="265176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28232" y="27432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28232" y="312724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интерфейс, через который программы обращаются к сервисам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39319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API-ключ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31596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секретный пароль программы, его нельзя публиковать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53912" y="384048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28232" y="39319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Деплой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28232" y="431596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проекта в интернете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2960" y="51206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5046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структура, оформление и поведение страницы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53912" y="502920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28232" y="51206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428232" y="55046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хранилище данных в браузере пользователя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Основа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1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дальше: следующие курсы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103120" cy="38404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6D5D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116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7432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Сайты с ИИ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474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недель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Дизайн, сборка, формы, домен, SEO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798064" y="1554480"/>
            <a:ext cx="2103120" cy="38404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72384" y="1828800"/>
            <a:ext cx="685800" cy="685800"/>
          </a:xfrm>
          <a:prstGeom prst="ellipse">
            <a:avLst/>
          </a:prstGeom>
          <a:solidFill>
            <a:srgbClr val="0B8A8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264" y="20116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72384" y="27432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Монтаж с ИИ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072384" y="3474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недель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072384" y="38404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Субтитры, звук, цвет, форматы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047488" y="1554480"/>
            <a:ext cx="2103120" cy="38404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21808" y="1828800"/>
            <a:ext cx="685800" cy="685800"/>
          </a:xfrm>
          <a:prstGeom prst="ellipse">
            <a:avLst/>
          </a:prstGeom>
          <a:solidFill>
            <a:srgbClr val="D9730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20116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321808" y="27432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 с нуля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5321808" y="3474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недель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321808" y="38404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Сценарий, кадры, клипы, озвучка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7296912" y="1554480"/>
            <a:ext cx="2103120" cy="38404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571232" y="1828800"/>
            <a:ext cx="685800" cy="685800"/>
          </a:xfrm>
          <a:prstGeom prst="ellipse">
            <a:avLst/>
          </a:prstGeom>
          <a:solidFill>
            <a:srgbClr val="D6336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201168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571232" y="27432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с ИИ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7571232" y="3474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3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недели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7571232" y="38404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Ретушь, предметка, единый стиль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9546336" y="1554480"/>
            <a:ext cx="2103120" cy="38404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4E1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820656" y="1828800"/>
            <a:ext cx="685800" cy="685800"/>
          </a:xfrm>
          <a:prstGeom prst="ellipse">
            <a:avLst/>
          </a:prstGeom>
          <a:solidFill>
            <a:srgbClr val="6D5DF6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536" y="2011680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820656" y="27432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Аватары</a:t>
            </a:r>
            <a:endParaRPr lang="en-US" sz="2000" dirty="0"/>
          </a:p>
        </p:txBody>
      </p:sp>
      <p:sp>
        <p:nvSpPr>
          <p:cNvPr id="31" name="Text 24"/>
          <p:cNvSpPr txBox="1"/>
          <p:nvPr/>
        </p:nvSpPr>
        <p:spPr>
          <a:xfrm>
            <a:off x="9820656" y="3474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недели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9820656" y="38404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образ, голос, персонажи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Курсы можно проходить в любом порядке. Скидка выпускника курса 0 — на следующий курс.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0 · Основа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8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51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097280"/>
            <a:ext cx="5669280" cy="5669280"/>
          </a:xfrm>
          <a:prstGeom prst="ellipse">
            <a:avLst/>
          </a:prstGeom>
          <a:solidFill>
            <a:srgbClr val="6D5DF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840480"/>
            <a:ext cx="3840480" cy="3840480"/>
          </a:xfrm>
          <a:prstGeom prst="ellipse">
            <a:avLst/>
          </a:prstGeom>
          <a:solidFill>
            <a:srgbClr val="B8F14A">
              <a:alpha val="1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19456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Ты готов собрать свой проект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38912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7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Начни с одного шага: открой чат, опиши идею и сделай первую итерацию. Остальное — практика.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Основа: вайбкодинг и нейросети с нуля</dc:title>
  <dc:subject>PptxGenJS Presentation</dc:subject>
  <dc:creator>project tg</dc:creator>
  <cp:lastModifiedBy>project tg</cp:lastModifiedBy>
  <cp:revision>1</cp:revision>
  <dcterms:created xsi:type="dcterms:W3CDTF">2026-09-29T12:06:40Z</dcterms:created>
  <dcterms:modified xsi:type="dcterms:W3CDTF">2026-09-29T12:06:40Z</dcterms:modified>
</cp:coreProperties>
</file>